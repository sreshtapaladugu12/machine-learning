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1365" cy="6858000"/>
  <p:notesSz cx="6858000" cy="12191365"/>
  <p:embeddedFontLst>
    <p:embeddedFont>
      <p:font typeface="Bricolage Grotesque SemiBold" panose="020B0605040402000204" pitchFamily="34" charset="0"/>
      <p:bold r:id="rId18"/>
    </p:embeddedFont>
    <p:embeddedFont>
      <p:font typeface="Bricolage Grotesque SemiBold" panose="020B0605040402000204" pitchFamily="34" charset="-122"/>
      <p:bold r:id="rId19"/>
    </p:embeddedFont>
    <p:embeddedFont>
      <p:font typeface="Bricolage Grotesque SemiBold" panose="020B0605040402000204" pitchFamily="34" charset="-120"/>
      <p:bold r:id="rId20"/>
    </p:embeddedFont>
    <p:embeddedFont>
      <p:font typeface="Inter" panose="02000503000000020004" pitchFamily="34" charset="0"/>
      <p:regular r:id="rId21"/>
    </p:embeddedFont>
    <p:embeddedFont>
      <p:font typeface="Inter" panose="02000503000000020004" pitchFamily="34" charset="-122"/>
      <p:regular r:id="rId22"/>
    </p:embeddedFont>
    <p:embeddedFont>
      <p:font typeface="Inter" panose="02000503000000020004" pitchFamily="34" charset="-120"/>
      <p:regular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E0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4" y="799207"/>
            <a:ext cx="3506303" cy="52595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2431951"/>
            <a:ext cx="6296860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anose="020B0605040402000204" pitchFamily="34" charset="0"/>
                <a:ea typeface="Bricolage Grotesque SemiBold" panose="020B0605040402000204" pitchFamily="34" charset="-122"/>
                <a:cs typeface="Bricolage Grotesque SemiBold" panose="020B0605040402000204" pitchFamily="34" charset="-120"/>
              </a:rPr>
              <a:t>Forest Fire Risk Prediction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5233360" y="3306068"/>
            <a:ext cx="6296860" cy="111988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Using Random Forest and Gradient-Boosted Trees — B.Tech 2nd Year ML Project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Student: Sreshta Paladugu</a:t>
            </a:r>
            <a:endParaRPr lang="en-US" sz="1450" dirty="0"/>
          </a:p>
        </p:txBody>
      </p:sp>
      <p:sp>
        <p:nvSpPr>
          <p:cNvPr id="7" name="Rectangles 6"/>
          <p:cNvSpPr/>
          <p:nvPr/>
        </p:nvSpPr>
        <p:spPr>
          <a:xfrm>
            <a:off x="10989945" y="6476365"/>
            <a:ext cx="1164590" cy="3816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839" y="799207"/>
            <a:ext cx="3506303" cy="52595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2143720"/>
            <a:ext cx="6296860" cy="4724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C2926"/>
                </a:solidFill>
                <a:latin typeface="Bricolage Grotesque SemiBold" panose="020B0605040402000204" pitchFamily="34" charset="0"/>
                <a:ea typeface="Bricolage Grotesque SemiBold" panose="020B0605040402000204" pitchFamily="34" charset="-122"/>
                <a:cs typeface="Bricolage Grotesque SemiBold" panose="020B0605040402000204" pitchFamily="34" charset="-120"/>
              </a:rPr>
              <a:t>Introduction &amp; Problem Statement</a:t>
            </a:r>
            <a:endParaRPr lang="en-US" sz="2950" dirty="0"/>
          </a:p>
        </p:txBody>
      </p:sp>
      <p:sp>
        <p:nvSpPr>
          <p:cNvPr id="5" name="Text 1"/>
          <p:cNvSpPr/>
          <p:nvPr/>
        </p:nvSpPr>
        <p:spPr>
          <a:xfrm>
            <a:off x="661475" y="2899668"/>
            <a:ext cx="6296860" cy="18145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Forest fires are driven by meteorological and fire-weather indicators. The goal of this project is to build supervised classifiers that predict whether a given forest observation corresponds to Fire (1) or Not Fire (0). Two models — Random Forest (RF) and Gradient Boosting (GB) — are trained on the same dataset and compared using standard performance metrics.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93527"/>
            <a:ext cx="4070744" cy="40708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99726" y="2101255"/>
            <a:ext cx="6336745" cy="4724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C2926"/>
                </a:solidFill>
                <a:latin typeface="Bricolage Grotesque SemiBold" panose="020B0605040402000204" pitchFamily="34" charset="0"/>
                <a:ea typeface="Bricolage Grotesque SemiBold" panose="020B0605040402000204" pitchFamily="34" charset="-122"/>
                <a:cs typeface="Bricolage Grotesque SemiBold" panose="020B0605040402000204" pitchFamily="34" charset="-120"/>
              </a:rPr>
              <a:t>Dataset &amp; Features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199726" y="2762746"/>
            <a:ext cx="6336745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Dataset: Algerian Forest Fires Dataset. Regions included: Bejaia and Sidi-Bel Abbes. Target: binary class (Fire / Not Fire).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199726" y="3537645"/>
            <a:ext cx="6336745" cy="13418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Core meteorological features: Temperature, Relative Humidity (RH), Wind speed (Ws), Rain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Fire-weather indices: FFMC, DMC, DC, ISI, BUI, FWI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Additional categorical feature: Region</a:t>
            </a:r>
            <a:endParaRPr lang="en-US" sz="1450" dirty="0"/>
          </a:p>
        </p:txBody>
      </p:sp>
      <p:sp>
        <p:nvSpPr>
          <p:cNvPr id="7" name="Rectangles 6"/>
          <p:cNvSpPr/>
          <p:nvPr/>
        </p:nvSpPr>
        <p:spPr>
          <a:xfrm>
            <a:off x="10989945" y="6486525"/>
            <a:ext cx="1164590" cy="3816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45" y="951706"/>
            <a:ext cx="4954464" cy="49545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1267" y="1014016"/>
            <a:ext cx="5215303" cy="8979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2C2926"/>
                </a:solidFill>
                <a:latin typeface="Bricolage Grotesque SemiBold" panose="020B0605040402000204" pitchFamily="34" charset="0"/>
                <a:ea typeface="Bricolage Grotesque SemiBold" panose="020B0605040402000204" pitchFamily="34" charset="-122"/>
                <a:cs typeface="Bricolage Grotesque SemiBold" panose="020B0605040402000204" pitchFamily="34" charset="-120"/>
              </a:rPr>
              <a:t>Data Preprocessing &amp; Feature Engineering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321267" y="2082502"/>
            <a:ext cx="5215303" cy="5601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Key preprocessing steps and engineered features used to improve signal and model performance.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321267" y="2796183"/>
            <a:ext cx="5215303" cy="12396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 cleaning: handle missing values, check for duplicates, consistent types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Target encoding: Fire = 1, Not Fire = 0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Engineered features:           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21267" y="4095452"/>
            <a:ext cx="5215303" cy="12396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568960" lvl="1" indent="-284480" algn="l">
              <a:lnSpc>
                <a:spcPct val="130000"/>
              </a:lnSpc>
              <a:buSzPct val="100000"/>
              <a:buFont typeface="+mj-lt"/>
              <a:buAutoNum type="alphaLcPeriod"/>
            </a:pPr>
            <a:r>
              <a:rPr lang="en-US" sz="140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Dryness = 100 − RH (humidity-derived dryness)</a:t>
            </a:r>
            <a:endParaRPr lang="en-US" sz="1400" dirty="0"/>
          </a:p>
          <a:p>
            <a:pPr marL="568960" lvl="1" indent="-284480" algn="l">
              <a:lnSpc>
                <a:spcPct val="130000"/>
              </a:lnSpc>
              <a:buSzPct val="100000"/>
              <a:buFont typeface="+mj-lt"/>
              <a:buAutoNum type="alphaLcPeriod" startAt="2"/>
            </a:pPr>
            <a:r>
              <a:rPr lang="en-US" sz="140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Temp_Wind = Temperature × Ws (interaction term)</a:t>
            </a:r>
            <a:endParaRPr lang="en-US" sz="1400" dirty="0"/>
          </a:p>
          <a:p>
            <a:pPr marL="568960" lvl="1" indent="-284480" algn="l">
              <a:lnSpc>
                <a:spcPct val="130000"/>
              </a:lnSpc>
              <a:buSzPct val="100000"/>
              <a:buFont typeface="+mj-lt"/>
              <a:buAutoNum type="alphaLcPeriod" startAt="3"/>
            </a:pPr>
            <a:r>
              <a:rPr lang="en-US" sz="140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Rain_Flag = 1 if Rain &gt; 0, else 0 (binary precipitation indicator)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321267" y="5394722"/>
            <a:ext cx="5215303" cy="5601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Train/test split: 80% training, 20% testing (stratified by class to preserve class ratios)</a:t>
            </a:r>
            <a:endParaRPr lang="en-US" sz="1400" dirty="0"/>
          </a:p>
        </p:txBody>
      </p:sp>
      <p:sp>
        <p:nvSpPr>
          <p:cNvPr id="8" name="Rectangles 7"/>
          <p:cNvSpPr/>
          <p:nvPr/>
        </p:nvSpPr>
        <p:spPr>
          <a:xfrm>
            <a:off x="10989945" y="6476365"/>
            <a:ext cx="1164590" cy="3816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839" y="799207"/>
            <a:ext cx="3506303" cy="52595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1486495"/>
            <a:ext cx="6296860" cy="4724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C2926"/>
                </a:solidFill>
                <a:latin typeface="Bricolage Grotesque SemiBold" panose="020B0605040402000204" pitchFamily="34" charset="0"/>
                <a:ea typeface="Bricolage Grotesque SemiBold" panose="020B0605040402000204" pitchFamily="34" charset="-122"/>
                <a:cs typeface="Bricolage Grotesque SemiBold" panose="020B0605040402000204" pitchFamily="34" charset="-120"/>
              </a:rPr>
              <a:t>Machine Learning Models</a:t>
            </a:r>
            <a:endParaRPr lang="en-US" sz="2950" dirty="0"/>
          </a:p>
        </p:txBody>
      </p:sp>
      <p:sp>
        <p:nvSpPr>
          <p:cNvPr id="5" name="Text 1"/>
          <p:cNvSpPr/>
          <p:nvPr/>
        </p:nvSpPr>
        <p:spPr>
          <a:xfrm>
            <a:off x="661475" y="2242443"/>
            <a:ext cx="6296860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Two ensemble-based supervised classifiers were implemented and tuned using the same input features:</a:t>
            </a:r>
            <a:endParaRPr lang="en-US" sz="1450" dirty="0"/>
          </a:p>
        </p:txBody>
      </p:sp>
      <p:sp>
        <p:nvSpPr>
          <p:cNvPr id="6" name="Shape 2"/>
          <p:cNvSpPr/>
          <p:nvPr/>
        </p:nvSpPr>
        <p:spPr>
          <a:xfrm>
            <a:off x="661475" y="3059906"/>
            <a:ext cx="3053877" cy="2311499"/>
          </a:xfrm>
          <a:prstGeom prst="roundRect">
            <a:avLst>
              <a:gd name="adj" fmla="val 3434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56832" y="3255268"/>
            <a:ext cx="2663163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anose="020B0605040402000204" pitchFamily="34" charset="0"/>
                <a:ea typeface="Bricolage Grotesque SemiBold" panose="020B0605040402000204" pitchFamily="34" charset="-122"/>
                <a:cs typeface="Bricolage Grotesque SemiBold" panose="020B0605040402000204" pitchFamily="34" charset="-120"/>
              </a:rPr>
              <a:t>Random Forest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856832" y="3663950"/>
            <a:ext cx="2663163" cy="15120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Bagging ensemble of decision trees; reduces variance via bootstrap aggregation and random feature selection per split.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3904359" y="3059906"/>
            <a:ext cx="3053976" cy="2311499"/>
          </a:xfrm>
          <a:prstGeom prst="roundRect">
            <a:avLst>
              <a:gd name="adj" fmla="val 3434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099715" y="3255268"/>
            <a:ext cx="2663262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anose="020B0605040402000204" pitchFamily="34" charset="0"/>
                <a:ea typeface="Bricolage Grotesque SemiBold" panose="020B0605040402000204" pitchFamily="34" charset="-122"/>
                <a:cs typeface="Bricolage Grotesque SemiBold" panose="020B0605040402000204" pitchFamily="34" charset="-120"/>
              </a:rPr>
              <a:t>Gradient Boosting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099715" y="3663950"/>
            <a:ext cx="2663262" cy="15120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Sequential additive trees where each tree corrects residual errors; focused on reducing bias with learning-rate regularization.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93527"/>
            <a:ext cx="4070744" cy="40708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99726" y="882352"/>
            <a:ext cx="6336745" cy="94495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C2926"/>
                </a:solidFill>
                <a:latin typeface="Bricolage Grotesque SemiBold" panose="020B0605040402000204" pitchFamily="34" charset="0"/>
                <a:ea typeface="Bricolage Grotesque SemiBold" panose="020B0605040402000204" pitchFamily="34" charset="-122"/>
                <a:cs typeface="Bricolage Grotesque SemiBold" panose="020B0605040402000204" pitchFamily="34" charset="-120"/>
              </a:rPr>
              <a:t>Model Training &amp; Prediction Workflow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199726" y="2016323"/>
            <a:ext cx="6336745" cy="23812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Prepare dataset → apply preprocessing and feature engineering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Split data (80/20) with stratification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Train Random Forest and Gradient Boosting on identical training folds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Generate class predictions and predicted probabilities on the test set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Use identical test set for fair comparison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199726" y="4610199"/>
            <a:ext cx="6336745" cy="1341834"/>
          </a:xfrm>
          <a:prstGeom prst="roundRect">
            <a:avLst>
              <a:gd name="adj" fmla="val 5916"/>
            </a:avLst>
          </a:prstGeom>
          <a:solidFill>
            <a:srgbClr val="F8ECD3"/>
          </a:solidFill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733" y="4896941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13974" y="4827488"/>
            <a:ext cx="5533490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Hyperparameters were tuned via cross-validation; both models output class labels and probability estimates for the Fire class.</a:t>
            </a:r>
            <a:endParaRPr lang="en-US" sz="1450" dirty="0"/>
          </a:p>
        </p:txBody>
      </p:sp>
      <p:sp>
        <p:nvSpPr>
          <p:cNvPr id="8" name="Rectangles 7"/>
          <p:cNvSpPr/>
          <p:nvPr/>
        </p:nvSpPr>
        <p:spPr>
          <a:xfrm>
            <a:off x="10989945" y="6476365"/>
            <a:ext cx="1164590" cy="3816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839" y="799207"/>
            <a:ext cx="3506303" cy="52595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1418630"/>
            <a:ext cx="6296860" cy="4724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C2926"/>
                </a:solidFill>
                <a:latin typeface="Bricolage Grotesque SemiBold" panose="020B0605040402000204" pitchFamily="34" charset="0"/>
                <a:ea typeface="Bricolage Grotesque SemiBold" panose="020B0605040402000204" pitchFamily="34" charset="-122"/>
                <a:cs typeface="Bricolage Grotesque SemiBold" panose="020B0605040402000204" pitchFamily="34" charset="-120"/>
              </a:rPr>
              <a:t>Evaluation Metrics</a:t>
            </a:r>
            <a:endParaRPr lang="en-US" sz="2950" dirty="0"/>
          </a:p>
        </p:txBody>
      </p:sp>
      <p:sp>
        <p:nvSpPr>
          <p:cNvPr id="5" name="Text 1"/>
          <p:cNvSpPr/>
          <p:nvPr/>
        </p:nvSpPr>
        <p:spPr>
          <a:xfrm>
            <a:off x="661475" y="2174577"/>
            <a:ext cx="6296860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We assess classification performance with metrics that capture both overall accuracy and behaviour on the positive (Fire) class: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661475" y="2992041"/>
            <a:ext cx="6296860" cy="24473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Accuracy = (TP + TN) / Total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Precision = TP / (TP + FP) — reliability of predicted fires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Recall = TP / (TP + FN) — sensitivity to actual fires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F1 Score = 2 × (Precision × Recall) / (Precision + Recall)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ROC-AUC = area under ROC curve for class-separation ability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Confusion Matrix = counts of TP, TN, FP, FN for detailed error analysis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33872"/>
            <a:ext cx="4954464" cy="35663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1267" y="1112540"/>
            <a:ext cx="5215303" cy="8979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2C2926"/>
                </a:solidFill>
                <a:latin typeface="Bricolage Grotesque SemiBold" panose="020B0605040402000204" pitchFamily="34" charset="0"/>
                <a:ea typeface="Bricolage Grotesque SemiBold" panose="020B0605040402000204" pitchFamily="34" charset="-122"/>
                <a:cs typeface="Bricolage Grotesque SemiBold" panose="020B0605040402000204" pitchFamily="34" charset="-120"/>
              </a:rPr>
              <a:t>Model Comparison (Instructions)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321267" y="2181027"/>
            <a:ext cx="5215303" cy="21141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This card shows a comparison chart for Accuracy. Replace the zero values above with the exact numeric test accuracies obtained from your Colab run. Do not invent numbers — use measured results.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Also prepare a small results table (in your notebook) listing Accuracy, Precision, Recall, F1, and ROC-AUC for both RF and GB. Use the same test split for both models.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321267" y="4487069"/>
            <a:ext cx="5215303" cy="1236960"/>
          </a:xfrm>
          <a:prstGeom prst="roundRect">
            <a:avLst>
              <a:gd name="adj" fmla="val 6097"/>
            </a:avLst>
          </a:prstGeom>
          <a:solidFill>
            <a:srgbClr val="B6D6FC"/>
          </a:solidFill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749" y="4748609"/>
            <a:ext cx="224427" cy="1794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04659" y="4685407"/>
            <a:ext cx="4452429" cy="8402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Action required: insert the Colab-derived metrics into the chart/data and into the final comparison table before presentation.</a:t>
            </a:r>
            <a:endParaRPr lang="en-US" sz="1400" dirty="0"/>
          </a:p>
        </p:txBody>
      </p:sp>
      <p:sp>
        <p:nvSpPr>
          <p:cNvPr id="8" name="Rectangles 7"/>
          <p:cNvSpPr/>
          <p:nvPr/>
        </p:nvSpPr>
        <p:spPr>
          <a:xfrm>
            <a:off x="10989945" y="6476365"/>
            <a:ext cx="1164590" cy="3816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633" y="1330722"/>
            <a:ext cx="4196352" cy="41964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45416" y="977503"/>
            <a:ext cx="5791055" cy="8505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2C2926"/>
                </a:solidFill>
                <a:latin typeface="Bricolage Grotesque SemiBold" panose="020B0605040402000204" pitchFamily="34" charset="0"/>
                <a:ea typeface="Bricolage Grotesque SemiBold" panose="020B0605040402000204" pitchFamily="34" charset="-122"/>
                <a:cs typeface="Bricolage Grotesque SemiBold" panose="020B0605040402000204" pitchFamily="34" charset="-120"/>
              </a:rPr>
              <a:t>Model Selection &amp; New Data Prediction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5745416" y="1981101"/>
            <a:ext cx="5791055" cy="1034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Selection rule: choose the model with higher test-set Accuracy as the final production model. If accuracies are close, consider F1 and ROC-AUC to prioritize detection of fire (recall) or precision depending on operational cost of false alarms.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745416" y="3153073"/>
            <a:ext cx="5791055" cy="13999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Apply both models to identical new environmental observations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Each model returns: predicted class (Fire / Not Fire) and probability of fire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Report both predictions side-by-side for transparency:           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​"/>
            </a:pPr>
            <a:r>
              <a:rPr lang="en-US" sz="130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RF Prediction: [result]  |  GB Prediction: [result]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745416" y="4725293"/>
            <a:ext cx="5791055" cy="1136055"/>
          </a:xfrm>
          <a:prstGeom prst="roundRect">
            <a:avLst>
              <a:gd name="adj" fmla="val 6289"/>
            </a:avLst>
          </a:prstGeom>
          <a:solidFill>
            <a:srgbClr val="F8ECD3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472" y="4962525"/>
            <a:ext cx="212620" cy="1700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98149" y="4905474"/>
            <a:ext cx="5068265" cy="7756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Before deployment, calibrate probabilities if necessary (e.g., Platt scaling) and validate on out-of-sample data or temporal holdout.</a:t>
            </a:r>
            <a:endParaRPr lang="en-US" sz="1300" dirty="0"/>
          </a:p>
        </p:txBody>
      </p:sp>
      <p:sp>
        <p:nvSpPr>
          <p:cNvPr id="9" name="Rectangles 8"/>
          <p:cNvSpPr/>
          <p:nvPr/>
        </p:nvSpPr>
        <p:spPr>
          <a:xfrm>
            <a:off x="10989945" y="6476365"/>
            <a:ext cx="1164590" cy="3816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2406" y="771981"/>
            <a:ext cx="3528924" cy="529361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1028204"/>
            <a:ext cx="6296860" cy="4016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2C2926"/>
                </a:solidFill>
                <a:latin typeface="Bricolage Grotesque SemiBold" panose="020B0605040402000204" pitchFamily="34" charset="0"/>
                <a:ea typeface="Bricolage Grotesque SemiBold" panose="020B0605040402000204" pitchFamily="34" charset="-122"/>
                <a:cs typeface="Bricolage Grotesque SemiBold" panose="020B0605040402000204" pitchFamily="34" charset="-120"/>
              </a:rPr>
              <a:t>Conclusion &amp; Future Scope</a:t>
            </a:r>
            <a:endParaRPr lang="en-US" sz="2500" dirty="0"/>
          </a:p>
        </p:txBody>
      </p:sp>
      <p:sp>
        <p:nvSpPr>
          <p:cNvPr id="5" name="Text 1"/>
          <p:cNvSpPr/>
          <p:nvPr/>
        </p:nvSpPr>
        <p:spPr>
          <a:xfrm>
            <a:off x="661475" y="1634629"/>
            <a:ext cx="6296860" cy="950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This project demonstrates classification of forest-fire risk using Random Forest and Gradient Boosting trained on the Algerian Forest Fires dataset. Models were evaluated with accuracy-focused criteria and deeper metrics (precision, recall, F1, ROC-AUC) to understand operational trade-offs.</a:t>
            </a:r>
            <a:endParaRPr lang="en-US" sz="1250" dirty="0"/>
          </a:p>
        </p:txBody>
      </p:sp>
      <p:sp>
        <p:nvSpPr>
          <p:cNvPr id="6" name="Shape 2"/>
          <p:cNvSpPr/>
          <p:nvPr/>
        </p:nvSpPr>
        <p:spPr>
          <a:xfrm>
            <a:off x="661475" y="2739132"/>
            <a:ext cx="6296860" cy="1167705"/>
          </a:xfrm>
          <a:prstGeom prst="roundRect">
            <a:avLst>
              <a:gd name="adj" fmla="val 577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8ECD3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41156" y="2918817"/>
            <a:ext cx="5937498" cy="2510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anose="020B0605040402000204" pitchFamily="34" charset="0"/>
                <a:ea typeface="Bricolage Grotesque SemiBold" panose="020B0605040402000204" pitchFamily="34" charset="-122"/>
                <a:cs typeface="Bricolage Grotesque SemiBold" panose="020B0605040402000204" pitchFamily="34" charset="-120"/>
              </a:rPr>
              <a:t>Key takeaway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841156" y="3251696"/>
            <a:ext cx="5937498" cy="475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Use identical data and metrics for fair comparison; choose model based on accuracy plus class-specific metrics aligned to operational priorities.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61475" y="4043363"/>
            <a:ext cx="6296860" cy="1786334"/>
          </a:xfrm>
          <a:prstGeom prst="roundRect">
            <a:avLst>
              <a:gd name="adj" fmla="val 377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8ECD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41156" y="4223048"/>
            <a:ext cx="5937498" cy="2510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anose="020B0605040402000204" pitchFamily="34" charset="0"/>
                <a:ea typeface="Bricolage Grotesque SemiBold" panose="020B0605040402000204" pitchFamily="34" charset="-122"/>
                <a:cs typeface="Bricolage Grotesque SemiBold" panose="020B0605040402000204" pitchFamily="34" charset="-120"/>
              </a:rPr>
              <a:t>Future work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841156" y="4555927"/>
            <a:ext cx="5937498" cy="10940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Integrate real-time weather feeds and temporal validation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Scale training with larger, multi-region datasets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Develop GIS-based visualization and early-warning pipelines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C292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Consider cost-sensitive learning or threshold optimization for deployment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10989945" y="6476365"/>
            <a:ext cx="1164590" cy="3816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1779905" y="2491105"/>
            <a:ext cx="820229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9600"/>
              <a:t>THANK YOU</a:t>
            </a:r>
            <a:endParaRPr lang="en-US" altLang="en-GB" sz="9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4593</Words>
  <Application>WPS Presentation</Application>
  <PresentationFormat>On-screen Show (16:9)</PresentationFormat>
  <Paragraphs>99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SimSun</vt:lpstr>
      <vt:lpstr>Wingdings</vt:lpstr>
      <vt:lpstr>Bricolage Grotesque SemiBold</vt:lpstr>
      <vt:lpstr>Bricolage Grotesque SemiBold</vt:lpstr>
      <vt:lpstr>Bricolage Grotesque SemiBold</vt:lpstr>
      <vt:lpstr>Inter</vt:lpstr>
      <vt:lpstr>Inter</vt:lpstr>
      <vt:lpstr>Inter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sreshta paladugu</cp:lastModifiedBy>
  <cp:revision>3</cp:revision>
  <dcterms:created xsi:type="dcterms:W3CDTF">2026-09-28T03:57:00Z</dcterms:created>
  <dcterms:modified xsi:type="dcterms:W3CDTF">2026-10-01T07:00:48Z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F088067F56914D6BA5FDC62A0484637F_12</vt:lpwstr>
  </property>
  <property fmtid="{D5CDD505-2E9C-101B-9397-08002B2CF9AE}" pid="3" name="KSOProductBuildVer">
    <vt:lpwstr>2057-12.2.0.23206</vt:lpwstr>
  </property>
</Properties>
</file>